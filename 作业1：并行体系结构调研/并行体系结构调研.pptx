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5715000" cy="9144000" type="screen16x10"/>
  <p:notesSz cx="6858000" cy="9144000"/>
  <p:defaultTextStyle>
    <a:defPPr>
      <a:defRPr lang="zh-CN"/>
    </a:defPPr>
    <a:lvl1pPr marL="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1pPr>
    <a:lvl2pPr marL="35687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2pPr>
    <a:lvl3pPr marL="713105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3pPr>
    <a:lvl4pPr marL="1069975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4pPr>
    <a:lvl5pPr marL="142621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6pPr>
    <a:lvl7pPr marL="213995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7pPr>
    <a:lvl8pPr marL="2496185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8pPr>
    <a:lvl9pPr marL="2853055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9"/>
    <p:restoredTop sz="94648"/>
  </p:normalViewPr>
  <p:slideViewPr>
    <p:cSldViewPr snapToGrid="0">
      <p:cViewPr varScale="1">
        <p:scale>
          <a:sx n="90" d="100"/>
          <a:sy n="90" d="100"/>
        </p:scale>
        <p:origin x="322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  <a:prstGeom prst="rect">
            <a:avLst/>
          </a:prstGeom>
        </p:spPr>
        <p:txBody>
          <a:bodyPr vert="horz" anchor="ctr" anchorCtr="1"/>
          <a:lstStyle>
            <a:lvl1pPr>
              <a:defRPr sz="2600"/>
            </a:lvl1pPr>
          </a:lstStyle>
          <a:p>
            <a:r>
              <a:rPr lang="zh-CN" altLang="en-US"/>
              <a:t>请填写试卷标题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386080" rtl="0" eaLnBrk="1" latinLnBrk="0" hangingPunct="1">
        <a:lnSpc>
          <a:spcPct val="90000"/>
        </a:lnSpc>
        <a:spcBef>
          <a:spcPct val="0"/>
        </a:spcBef>
        <a:buNone/>
        <a:defRPr sz="18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520" indent="-96520" algn="l" defTabSz="386080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180" kern="1200">
          <a:solidFill>
            <a:schemeClr val="tx1"/>
          </a:solidFill>
          <a:latin typeface="+mn-lt"/>
          <a:ea typeface="+mn-ea"/>
          <a:cs typeface="+mn-cs"/>
        </a:defRPr>
      </a:lvl1pPr>
      <a:lvl2pPr marL="289560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481965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845" kern="1200">
          <a:solidFill>
            <a:schemeClr val="tx1"/>
          </a:solidFill>
          <a:latin typeface="+mn-lt"/>
          <a:ea typeface="+mn-ea"/>
          <a:cs typeface="+mn-cs"/>
        </a:defRPr>
      </a:lvl3pPr>
      <a:lvl4pPr marL="675005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8045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1085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490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530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570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304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608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485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565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605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01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tags" Target="../tags/tag10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18.xml"/><Relationship Id="rId16" Type="http://schemas.openxmlformats.org/officeDocument/2006/relationships/image" Target="../media/image1.png"/><Relationship Id="rId15" Type="http://schemas.openxmlformats.org/officeDocument/2006/relationships/tags" Target="../tags/tag17.xml"/><Relationship Id="rId14" Type="http://schemas.openxmlformats.org/officeDocument/2006/relationships/tags" Target="../tags/tag16.xml"/><Relationship Id="rId13" Type="http://schemas.openxmlformats.org/officeDocument/2006/relationships/tags" Target="../tags/tag15.xml"/><Relationship Id="rId12" Type="http://schemas.openxmlformats.org/officeDocument/2006/relationships/tags" Target="../tags/tag14.xml"/><Relationship Id="rId11" Type="http://schemas.openxmlformats.org/officeDocument/2006/relationships/tags" Target="../tags/tag13.xml"/><Relationship Id="rId10" Type="http://schemas.openxmlformats.org/officeDocument/2006/relationships/tags" Target="../tags/tag12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并行体系结构调研</a:t>
            </a:r>
            <a:endParaRPr lang="zh-CN" altLang="en-US" dirty="0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841500" y="5842000"/>
            <a:ext cx="2032000" cy="5080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 anchorCtr="1">
            <a:noAutofit/>
          </a:bodyPr>
          <a:lstStyle/>
          <a:p>
            <a:r>
              <a:rPr lang="zh-CN" altLang="en-US" sz="2000">
                <a:solidFill>
                  <a:srgbClr val="000000"/>
                </a:solidFill>
              </a:rPr>
              <a:t>总分</a:t>
            </a:r>
            <a:r>
              <a:rPr lang="en-US" altLang="zh-CN" sz="2000">
                <a:solidFill>
                  <a:srgbClr val="000000"/>
                </a:solidFill>
              </a:rPr>
              <a:t>: 5</a:t>
            </a:r>
            <a:endParaRPr lang="zh-CN" altLang="en-US" sz="2000">
              <a:solidFill>
                <a:srgbClr val="00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000" y="7874000"/>
            <a:ext cx="5461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r>
              <a:rPr lang="zh-CN" altLang="en-US" sz="20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  <a:endParaRPr lang="zh-CN" altLang="en-US" sz="2000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0" y="634999"/>
            <a:ext cx="5715000" cy="7572375"/>
          </a:xfrm>
          <a:prstGeom prst="rect">
            <a:avLst/>
          </a:prstGeom>
          <a:noFill/>
        </p:spPr>
        <p:txBody>
          <a:bodyPr vert="horz" wrap="square" rtlCol="0" anchor="t" anchorCtr="0">
            <a:noAutofit/>
          </a:bodyPr>
          <a:lstStyle/>
          <a:p>
            <a:pPr lvl="0"/>
            <a:r>
              <a:rPr lang="zh-CN" altLang="zh-CN" sz="1600" dirty="0"/>
              <a:t>基本要求（</a:t>
            </a:r>
            <a:r>
              <a:rPr lang="en-US" altLang="zh-CN" sz="1600" dirty="0"/>
              <a:t>4</a:t>
            </a:r>
            <a:r>
              <a:rPr lang="zh-CN" altLang="en-US" sz="1600" dirty="0"/>
              <a:t>分）：</a:t>
            </a:r>
            <a:endParaRPr lang="en-US" altLang="zh-CN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ym typeface="+mn-ea"/>
              </a:rPr>
              <a:t>调研我国超算发展历史（</a:t>
            </a:r>
            <a:r>
              <a:rPr lang="zh-CN" altLang="en-US" sz="1600" dirty="0"/>
              <a:t>银河、天河、神威、曙光、</a:t>
            </a:r>
            <a:r>
              <a:rPr lang="en-US" altLang="zh-CN" sz="1600" dirty="0"/>
              <a:t>…</a:t>
            </a:r>
            <a:r>
              <a:rPr lang="zh-CN" altLang="en-US" sz="1600" dirty="0"/>
              <a:t>）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ym typeface="+mn-ea"/>
              </a:rPr>
              <a:t>或调研我国自主产权</a:t>
            </a:r>
            <a:r>
              <a:rPr lang="en-US" altLang="zh-CN" sz="1600" dirty="0">
                <a:sym typeface="+mn-ea"/>
              </a:rPr>
              <a:t>CPU</a:t>
            </a:r>
            <a:r>
              <a:rPr lang="zh-CN" altLang="en-US" sz="1600" dirty="0">
                <a:sym typeface="+mn-ea"/>
              </a:rPr>
              <a:t>、</a:t>
            </a:r>
            <a:r>
              <a:rPr lang="en-US" altLang="zh-CN" sz="1600" dirty="0">
                <a:sym typeface="+mn-ea"/>
              </a:rPr>
              <a:t>GPU</a:t>
            </a:r>
            <a:r>
              <a:rPr lang="zh-CN" altLang="en-US" sz="1600" dirty="0">
                <a:sym typeface="+mn-ea"/>
              </a:rPr>
              <a:t>、人工智能处理器</a:t>
            </a:r>
            <a:r>
              <a:rPr lang="en-US" altLang="zh-CN" sz="1600" dirty="0">
                <a:sym typeface="+mn-ea"/>
              </a:rPr>
              <a:t>APU/NPU</a:t>
            </a:r>
            <a:r>
              <a:rPr lang="zh-CN" altLang="en-US" sz="1600" dirty="0">
                <a:sym typeface="+mn-ea"/>
              </a:rPr>
              <a:t>发展历史（飞腾、鲲鹏、昇腾、</a:t>
            </a:r>
            <a:r>
              <a:rPr lang="en-US" altLang="zh-CN" sz="1600" dirty="0">
                <a:sym typeface="+mn-ea"/>
              </a:rPr>
              <a:t>MUSA</a:t>
            </a:r>
            <a:r>
              <a:rPr lang="zh-CN" altLang="en-US" sz="1600" dirty="0">
                <a:sym typeface="+mn-ea"/>
              </a:rPr>
              <a:t>、</a:t>
            </a:r>
            <a:r>
              <a:rPr lang="en-US" altLang="zh-CN" sz="1600" dirty="0">
                <a:sym typeface="+mn-ea"/>
              </a:rPr>
              <a:t>…</a:t>
            </a:r>
            <a:r>
              <a:rPr lang="zh-CN" altLang="en-US" sz="1600" dirty="0">
                <a:sym typeface="+mn-ea"/>
              </a:rPr>
              <a:t>）</a:t>
            </a:r>
            <a:endParaRPr lang="en-US" altLang="zh-CN" sz="1600" dirty="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ym typeface="+mn-ea"/>
              </a:rPr>
              <a:t>要求：除了综述总体发展历史、分析技术发展过程外，还应具体剖析有代表性的超算的并行体系结构或</a:t>
            </a:r>
            <a:r>
              <a:rPr lang="en-US" altLang="zh-CN" sz="1600" dirty="0">
                <a:sym typeface="+mn-ea"/>
              </a:rPr>
              <a:t>CPU/GPU/APU/NPU</a:t>
            </a:r>
            <a:r>
              <a:rPr lang="zh-CN" altLang="en-US" sz="1600" dirty="0">
                <a:sym typeface="+mn-ea"/>
              </a:rPr>
              <a:t>的微架构。</a:t>
            </a:r>
            <a:endParaRPr lang="en-US" altLang="zh-CN" sz="1600" dirty="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ym typeface="+mn-ea"/>
              </a:rPr>
              <a:t>信息来源：</a:t>
            </a:r>
            <a:r>
              <a:rPr lang="en-US" altLang="zh-CN" sz="1600" dirty="0">
                <a:sym typeface="+mn-ea"/>
              </a:rPr>
              <a:t>top-500</a:t>
            </a:r>
            <a:r>
              <a:rPr lang="zh-CN" altLang="en-US" sz="1600" dirty="0">
                <a:sym typeface="+mn-ea"/>
              </a:rPr>
              <a:t>（包含了</a:t>
            </a:r>
            <a:r>
              <a:rPr lang="en-US" altLang="zh-CN" sz="1600" dirty="0" err="1">
                <a:sym typeface="+mn-ea"/>
              </a:rPr>
              <a:t>hpcg</a:t>
            </a:r>
            <a:r>
              <a:rPr lang="zh-CN" altLang="en-US" sz="1600" dirty="0">
                <a:sym typeface="+mn-ea"/>
              </a:rPr>
              <a:t>、</a:t>
            </a:r>
            <a:r>
              <a:rPr lang="en-US" altLang="zh-CN" sz="1600" dirty="0">
                <a:sym typeface="+mn-ea"/>
              </a:rPr>
              <a:t>green-500</a:t>
            </a:r>
            <a:r>
              <a:rPr lang="zh-CN" altLang="en-US" sz="1600" dirty="0">
                <a:sym typeface="+mn-ea"/>
              </a:rPr>
              <a:t>榜单）等超算网站及其他网站中的文档、厂商官方文档及其他文献。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1600" dirty="0">
                <a:sym typeface="+mn-ea"/>
              </a:rPr>
              <a:t>撰写调研报告</a:t>
            </a:r>
            <a:r>
              <a:rPr lang="zh-CN" altLang="en-US" sz="1600" dirty="0">
                <a:sym typeface="+mn-ea"/>
              </a:rPr>
              <a:t>，提交</a:t>
            </a:r>
            <a:r>
              <a:rPr lang="en-US" altLang="zh-CN" sz="1600" dirty="0">
                <a:sym typeface="+mn-ea"/>
              </a:rPr>
              <a:t>PDF</a:t>
            </a:r>
            <a:r>
              <a:rPr lang="zh-CN" altLang="en-US" sz="1600" dirty="0">
                <a:sym typeface="+mn-ea"/>
              </a:rPr>
              <a:t>文档（</a:t>
            </a:r>
            <a:r>
              <a:rPr lang="zh-CN" altLang="en-US" sz="1600" dirty="0">
                <a:solidFill>
                  <a:srgbClr val="FF0000"/>
                </a:solidFill>
                <a:sym typeface="+mn-ea"/>
              </a:rPr>
              <a:t>不要提交</a:t>
            </a:r>
            <a:r>
              <a:rPr lang="en-US" altLang="zh-CN" sz="1600" dirty="0">
                <a:solidFill>
                  <a:srgbClr val="FF0000"/>
                </a:solidFill>
                <a:sym typeface="+mn-ea"/>
              </a:rPr>
              <a:t>word</a:t>
            </a:r>
            <a:r>
              <a:rPr lang="zh-CN" altLang="en-US" sz="1600" dirty="0">
                <a:solidFill>
                  <a:srgbClr val="FF0000"/>
                </a:solidFill>
                <a:sym typeface="+mn-ea"/>
              </a:rPr>
              <a:t>等其他格式！！！</a:t>
            </a:r>
            <a:r>
              <a:rPr lang="zh-CN" altLang="en-US" sz="1600" dirty="0">
                <a:sym typeface="+mn-ea"/>
              </a:rPr>
              <a:t>），要</a:t>
            </a:r>
            <a:r>
              <a:rPr lang="zh-CN" altLang="zh-CN" sz="1600" dirty="0">
                <a:sym typeface="+mn-ea"/>
              </a:rPr>
              <a:t>符合科技论文写作规范</a:t>
            </a:r>
            <a:r>
              <a:rPr lang="zh-CN" altLang="en-US" sz="1600" dirty="0">
                <a:sym typeface="+mn-ea"/>
              </a:rPr>
              <a:t>（建议用</a:t>
            </a:r>
            <a:r>
              <a:rPr lang="en-US" altLang="zh-CN" sz="1600" dirty="0">
                <a:sym typeface="+mn-ea"/>
              </a:rPr>
              <a:t>Latex</a:t>
            </a:r>
            <a:r>
              <a:rPr lang="zh-CN" altLang="en-US" sz="1600" dirty="0">
                <a:sym typeface="+mn-ea"/>
              </a:rPr>
              <a:t>撰写）。报告首要的是结构和内容组织合理、逻辑清晰，清楚地阐述你的调研内容即可，切忌长篇大论、逻辑不清、缺少“干货”</a:t>
            </a:r>
            <a:r>
              <a:rPr lang="en-US" altLang="zh-CN" sz="1600" dirty="0">
                <a:sym typeface="+mn-ea"/>
              </a:rPr>
              <a:t>——</a:t>
            </a:r>
            <a:r>
              <a:rPr lang="zh-CN" altLang="en-US" sz="1600" dirty="0">
                <a:sym typeface="+mn-ea"/>
              </a:rPr>
              <a:t>例如简单搬运一些空泛介绍、罗列一些参数而没有实际的体系结构剖析。要求篇幅不超过</a:t>
            </a:r>
            <a:r>
              <a:rPr lang="en-US" altLang="zh-CN" sz="1600" dirty="0">
                <a:sym typeface="+mn-ea"/>
              </a:rPr>
              <a:t>8</a:t>
            </a:r>
            <a:r>
              <a:rPr lang="zh-CN" altLang="en-US" sz="1600" dirty="0">
                <a:sym typeface="+mn-ea"/>
              </a:rPr>
              <a:t>页（包含进阶要求）。</a:t>
            </a:r>
            <a:endParaRPr lang="zh-CN" altLang="en-US" sz="1600" dirty="0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 sz="1600" dirty="0">
                <a:sym typeface="+mn-ea"/>
              </a:rPr>
              <a:t>进阶要求（</a:t>
            </a:r>
            <a:r>
              <a:rPr lang="en-US" altLang="zh-CN" sz="1600" dirty="0">
                <a:sym typeface="+mn-ea"/>
              </a:rPr>
              <a:t>1</a:t>
            </a:r>
            <a:r>
              <a:rPr lang="zh-CN" altLang="en-US" sz="1600" dirty="0">
                <a:sym typeface="+mn-ea"/>
              </a:rPr>
              <a:t>分）：</a:t>
            </a:r>
            <a:endParaRPr lang="zh-CN" altLang="en-US" sz="1600" dirty="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ym typeface="+mn-ea"/>
              </a:rPr>
              <a:t>通过调研国外最新的超算（如</a:t>
            </a:r>
            <a:r>
              <a:rPr lang="en-US" altLang="zh-CN" sz="1600" dirty="0">
                <a:sym typeface="+mn-ea"/>
              </a:rPr>
              <a:t>EI Capitan</a:t>
            </a:r>
            <a:r>
              <a:rPr lang="zh-CN" altLang="en-US" sz="1600" dirty="0">
                <a:sym typeface="+mn-ea"/>
              </a:rPr>
              <a:t>、</a:t>
            </a:r>
            <a:r>
              <a:rPr lang="en-US" altLang="zh-CN" sz="1600" dirty="0">
                <a:sym typeface="+mn-ea"/>
              </a:rPr>
              <a:t>Frontier</a:t>
            </a:r>
            <a:r>
              <a:rPr lang="zh-CN" altLang="en-US" sz="1600" dirty="0">
                <a:sym typeface="+mn-ea"/>
              </a:rPr>
              <a:t>、</a:t>
            </a:r>
            <a:r>
              <a:rPr lang="en-US" altLang="zh-CN" sz="1600" dirty="0" err="1">
                <a:sym typeface="+mn-ea"/>
              </a:rPr>
              <a:t>Auror</a:t>
            </a:r>
            <a:r>
              <a:rPr lang="zh-CN" altLang="en-US" sz="1600" dirty="0">
                <a:sym typeface="+mn-ea"/>
              </a:rPr>
              <a:t>等）或最新的</a:t>
            </a:r>
            <a:r>
              <a:rPr lang="en-US" altLang="zh-CN" sz="1600" dirty="0">
                <a:sym typeface="+mn-ea"/>
              </a:rPr>
              <a:t>CPU</a:t>
            </a:r>
            <a:r>
              <a:rPr lang="zh-CN" altLang="en-US" sz="1600" dirty="0">
                <a:sym typeface="+mn-ea"/>
              </a:rPr>
              <a:t>（如</a:t>
            </a:r>
            <a:r>
              <a:rPr lang="en-US" altLang="zh-CN" sz="1600" dirty="0">
                <a:sym typeface="+mn-ea"/>
              </a:rPr>
              <a:t>Intel</a:t>
            </a:r>
            <a:r>
              <a:rPr lang="zh-CN" altLang="en-US" sz="1600" dirty="0">
                <a:sym typeface="+mn-ea"/>
              </a:rPr>
              <a:t>酷睿</a:t>
            </a:r>
            <a:r>
              <a:rPr lang="en-US" altLang="zh-CN" sz="1600" dirty="0">
                <a:sym typeface="+mn-ea"/>
              </a:rPr>
              <a:t>Ultra 3</a:t>
            </a:r>
            <a:r>
              <a:rPr lang="zh-CN" altLang="en-US" sz="1600" dirty="0">
                <a:sym typeface="+mn-ea"/>
              </a:rPr>
              <a:t>代、</a:t>
            </a:r>
            <a:r>
              <a:rPr lang="en-US" altLang="zh-CN" sz="1600" dirty="0">
                <a:sym typeface="+mn-ea"/>
              </a:rPr>
              <a:t>AMD Zen5</a:t>
            </a:r>
            <a:r>
              <a:rPr lang="zh-CN" altLang="en-US" sz="1600" dirty="0">
                <a:sym typeface="+mn-ea"/>
              </a:rPr>
              <a:t>、苹果</a:t>
            </a:r>
            <a:r>
              <a:rPr lang="en-US" altLang="zh-CN" sz="1600" dirty="0">
                <a:sym typeface="+mn-ea"/>
              </a:rPr>
              <a:t>M5(Pro/Max/Ultra)</a:t>
            </a:r>
            <a:r>
              <a:rPr lang="zh-CN" altLang="en-US" sz="1600" dirty="0">
                <a:sym typeface="+mn-ea"/>
              </a:rPr>
              <a:t>、</a:t>
            </a:r>
            <a:r>
              <a:rPr lang="en-US" altLang="zh-CN" sz="1600" dirty="0">
                <a:sym typeface="+mn-ea"/>
              </a:rPr>
              <a:t>Intel</a:t>
            </a:r>
            <a:r>
              <a:rPr lang="zh-CN" altLang="en-US" sz="1600" dirty="0">
                <a:sym typeface="+mn-ea"/>
              </a:rPr>
              <a:t>可扩展志强等）、</a:t>
            </a:r>
            <a:r>
              <a:rPr lang="en-US" altLang="zh-CN" sz="1600" dirty="0">
                <a:sym typeface="+mn-ea"/>
              </a:rPr>
              <a:t>GPU</a:t>
            </a:r>
            <a:r>
              <a:rPr lang="zh-CN" altLang="en-US" sz="1600" dirty="0">
                <a:sym typeface="+mn-ea"/>
              </a:rPr>
              <a:t>（如英伟达</a:t>
            </a:r>
            <a:r>
              <a:rPr lang="en-US" altLang="zh-CN" sz="1600">
                <a:sym typeface="+mn-ea"/>
              </a:rPr>
              <a:t>Blackwell/Hopper</a:t>
            </a:r>
            <a:r>
              <a:rPr lang="zh-CN" altLang="en-US" sz="1600">
                <a:sym typeface="+mn-ea"/>
              </a:rPr>
              <a:t>、</a:t>
            </a:r>
            <a:r>
              <a:rPr lang="en-US" altLang="zh-CN" sz="1600" dirty="0">
                <a:sym typeface="+mn-ea"/>
              </a:rPr>
              <a:t>AMD RDNA5</a:t>
            </a:r>
            <a:r>
              <a:rPr lang="zh-CN" altLang="en-US" sz="1600" dirty="0">
                <a:sym typeface="+mn-ea"/>
              </a:rPr>
              <a:t>、</a:t>
            </a:r>
            <a:r>
              <a:rPr lang="en-US" altLang="zh-CN" sz="1600" dirty="0">
                <a:sym typeface="+mn-ea"/>
              </a:rPr>
              <a:t>Intel Ponte Vecchio</a:t>
            </a:r>
            <a:r>
              <a:rPr lang="zh-CN" altLang="en-US" sz="1600" dirty="0">
                <a:sym typeface="+mn-ea"/>
              </a:rPr>
              <a:t>等）或</a:t>
            </a:r>
            <a:r>
              <a:rPr lang="en-US" altLang="zh-CN" sz="1600" dirty="0">
                <a:sym typeface="+mn-ea"/>
              </a:rPr>
              <a:t>APU/NPU</a:t>
            </a:r>
            <a:r>
              <a:rPr lang="zh-CN" altLang="en-US" sz="1600" dirty="0">
                <a:sym typeface="+mn-ea"/>
              </a:rPr>
              <a:t>等，与我国超算</a:t>
            </a:r>
            <a:r>
              <a:rPr lang="en-US" altLang="zh-CN" sz="1600" dirty="0">
                <a:sym typeface="+mn-ea"/>
              </a:rPr>
              <a:t>/</a:t>
            </a:r>
            <a:r>
              <a:rPr lang="zh-CN" altLang="en-US" sz="1600" dirty="0">
                <a:sym typeface="+mn-ea"/>
              </a:rPr>
              <a:t>处理器发展进行对比分析，展望未来发展方向。</a:t>
            </a:r>
            <a:endParaRPr lang="zh-CN" altLang="en-US" sz="1600" dirty="0"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  <a:endParaRPr lang="zh-CN" altLang="en-US" sz="15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矩形 11" hidden="1"/>
          <p:cNvSpPr/>
          <p:nvPr>
            <p:custDataLst>
              <p:tags r:id="rId3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文本框 16" hidden="1"/>
          <p:cNvSpPr txBox="1"/>
          <p:nvPr>
            <p:custDataLst>
              <p:tags r:id="rId4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</a:t>
            </a:r>
            <a:endParaRPr lang="zh-CN" altLang="en-US" sz="12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8" name="文本框 17" hidden="1"/>
          <p:cNvSpPr txBox="1"/>
          <p:nvPr>
            <p:custDataLst>
              <p:tags r:id="rId5"/>
            </p:custDataLst>
          </p:nvPr>
        </p:nvSpPr>
        <p:spPr>
          <a:xfrm>
            <a:off x="6350000" y="1270000"/>
            <a:ext cx="461264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此处添加答案解析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6" name="组合 15" hidden="1"/>
          <p:cNvGrpSpPr/>
          <p:nvPr>
            <p:custDataLst>
              <p:tags r:id="rId6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3" name="RemarkBack" hidden="1"/>
            <p:cNvSpPr/>
            <p:nvPr>
              <p:custDataLst>
                <p:tags r:id="rId7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Block" hidden="1"/>
            <p:cNvSpPr/>
            <p:nvPr>
              <p:custDataLst>
                <p:tags r:id="rId8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TitleText" hidden="1"/>
            <p:cNvSpPr txBox="1"/>
            <p:nvPr>
              <p:custDataLst>
                <p:tags r:id="rId9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答案解析</a:t>
              </a:r>
              <a:endParaRPr lang="zh-CN" altLang="en-US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0" name="组合 9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6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9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4" name="图片 3"/>
          <p:cNvPicPr/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RAINPAPER" val="PaperScore"/>
</p:tagLst>
</file>

<file path=ppt/tags/tag2.xml><?xml version="1.0" encoding="utf-8"?>
<p:tagLst xmlns:p="http://schemas.openxmlformats.org/presentationml/2006/main">
  <p:tag name="RAINPAPER" val="PaperTitle"/>
</p:tagLst>
</file>

<file path=ppt/tags/tag3.xml><?xml version="1.0" encoding="utf-8"?>
<p:tagLst xmlns:p="http://schemas.openxmlformats.org/presentationml/2006/main">
  <p:tag name="RAINPROBLEM" val="ProblemBody"/>
</p:tagLst>
</file>

<file path=ppt/tags/tag4.xml><?xml version="1.0" encoding="utf-8"?>
<p:tagLst xmlns:p="http://schemas.openxmlformats.org/presentationml/2006/main">
  <p:tag name="PRODUCTVERSIONTIP" val="PRODUCTVERSIONTIP"/>
</p:tagLst>
</file>

<file path=ppt/tags/tag5.xml><?xml version="1.0" encoding="utf-8"?>
<p:tagLst xmlns:p="http://schemas.openxmlformats.org/presentationml/2006/main">
  <p:tag name="RAINPROBLEM" val="ProblemRemarkBoard"/>
</p:tagLst>
</file>

<file path=ppt/tags/tag6.xml><?xml version="1.0" encoding="utf-8"?>
<p:tagLst xmlns:p="http://schemas.openxmlformats.org/presentationml/2006/main">
  <p:tag name="PROBLEMREMARKTITLE" val="ProblemRemarkBoardTip"/>
</p:tagLst>
</file>

<file path=ppt/tags/tag7.xml><?xml version="1.0" encoding="utf-8"?>
<p:tagLst xmlns:p="http://schemas.openxmlformats.org/presentationml/2006/main">
  <p:tag name="RAINPROBLEM" val="ProblemRemark"/>
</p:tagLst>
</file>

<file path=ppt/tags/tag8.xml><?xml version="1.0" encoding="utf-8"?>
<p:tagLst xmlns:p="http://schemas.openxmlformats.org/presentationml/2006/main">
  <p:tag name="PROBLEMREMARKTITLE" val="ProblemRemarkBoardTitle"/>
</p:tagLst>
</file>

<file path=ppt/tags/tag9.xml><?xml version="1.0" encoding="utf-8"?>
<p:tagLst xmlns:p="http://schemas.openxmlformats.org/presentationml/2006/main">
  <p:tag name="PROBLEMREMARKTITLE" val="ProblemRemarkBoardTitle"/>
</p:tagLst>
</file>

<file path=ppt/tags/tag10.xml><?xml version="1.0" encoding="utf-8"?>
<p:tagLst xmlns:p="http://schemas.openxmlformats.org/presentationml/2006/main">
  <p:tag name="PROBLEMREMARKTITLE" val="ProblemRemarkBoardTitle"/>
</p:tagLst>
</file>

<file path=ppt/tags/tag11.xml><?xml version="1.0" encoding="utf-8"?>
<p:tagLst xmlns:p="http://schemas.openxmlformats.org/presentationml/2006/main">
  <p:tag name="PROBLEMREMARKTITLE" val="ProblemRemarkBoardTitle"/>
</p:tagLst>
</file>

<file path=ppt/tags/tag12.xml><?xml version="1.0" encoding="utf-8"?>
<p:tagLst xmlns:p="http://schemas.openxmlformats.org/presentationml/2006/main">
  <p:tag name="RAINPROBLEMTYPE" val="ProblemTypeMarker"/>
</p:tagLst>
</file>

<file path=ppt/tags/tag13.xml><?xml version="1.0" encoding="utf-8"?>
<p:tagLst xmlns:p="http://schemas.openxmlformats.org/presentationml/2006/main">
  <p:tag name="RAINPROBLEMTYPE" val="ProblemTypeMarker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TYPE" val="ProblemTypeMarker"/>
</p:tagLst>
</file>

<file path=ppt/tags/tag16.xml><?xml version="1.0" encoding="utf-8"?>
<p:tagLst xmlns:p="http://schemas.openxmlformats.org/presentationml/2006/main">
  <p:tag name="RAINPROBLEMTYPE" val="ProblemTypeMarker"/>
</p:tagLst>
</file>

<file path=ppt/tags/tag17.xml><?xml version="1.0" encoding="utf-8"?>
<p:tagLst xmlns:p="http://schemas.openxmlformats.org/presentationml/2006/main">
  <p:tag name="RAINPROBLEM" val="ProblemSetting"/>
  <p:tag name="RAINPROBLEMTYPE" val="ShortAnswer"/>
</p:tagLst>
</file>

<file path=ppt/tags/tag18.xml><?xml version="1.0" encoding="utf-8"?>
<p:tagLst xmlns:p="http://schemas.openxmlformats.org/presentationml/2006/main">
  <p:tag name="RAINPROBLEM" val="ShortAnswer"/>
  <p:tag name="PROBLEMHASREMARK" val="False"/>
  <p:tag name="PROBLEMSCORE" val="5.0"/>
  <p:tag name="PROBLEMVOICEALLOWED" val="False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726</Words>
  <Application>WPS 演示</Application>
  <PresentationFormat>全屏显示(16:10)</PresentationFormat>
  <Paragraphs>27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等线 Light</vt:lpstr>
      <vt:lpstr>等线</vt:lpstr>
      <vt:lpstr>Arial Unicode MS</vt:lpstr>
      <vt:lpstr>Calibri</vt:lpstr>
      <vt:lpstr>Office 主题​​</vt:lpstr>
      <vt:lpstr>并行体系结构调研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预备工作2 定义你的编译器功能 &amp; 汇编编程</dc:title>
  <dc:creator>王 刚</dc:creator>
  <cp:lastModifiedBy>PJ</cp:lastModifiedBy>
  <cp:revision>45</cp:revision>
  <dcterms:created xsi:type="dcterms:W3CDTF">2023-02-07T13:40:00Z</dcterms:created>
  <dcterms:modified xsi:type="dcterms:W3CDTF">2026-03-09T13:46:30Z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B1F463E87D7FD95DAA49E263E82D0E63</vt:lpwstr>
  </property>
  <property fmtid="{D5CDD505-2E9C-101B-9397-08002B2CF9AE}" pid="3" name="KSOProductBuildVer">
    <vt:lpwstr>2052-12.1.0.25225</vt:lpwstr>
  </property>
</Properties>
</file>